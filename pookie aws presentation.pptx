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3F7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FFEAF2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-480000">
            <a:off x="9692640" y="502920"/>
            <a:ext cx="822960" cy="822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600000">
            <a:off x="10698480" y="1737360"/>
            <a:ext cx="594360" cy="5943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9326880" y="2377440"/>
            <a:ext cx="777240" cy="77724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1155680" y="3291840"/>
            <a:ext cx="548640" cy="54864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 rot="720000">
            <a:off x="10058400" y="4114800"/>
            <a:ext cx="548640" cy="54864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>
            <a:alphaModFix amt="22000"/>
          </a:blip>
          <a:stretch>
            <a:fillRect/>
          </a:stretch>
        </p:blipFill>
        <p:spPr>
          <a:xfrm>
            <a:off x="1463040" y="5486400"/>
            <a:ext cx="640080" cy="64008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>
            <a:alphaModFix amt="22000"/>
          </a:blip>
          <a:stretch>
            <a:fillRect/>
          </a:stretch>
        </p:blipFill>
        <p:spPr>
          <a:xfrm rot="-600000">
            <a:off x="502920" y="4846320"/>
            <a:ext cx="548640" cy="54864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>
            <a:alphaModFix amt="18000"/>
          </a:blip>
          <a:stretch>
            <a:fillRect/>
          </a:stretch>
        </p:blipFill>
        <p:spPr>
          <a:xfrm>
            <a:off x="2377440" y="5074920"/>
            <a:ext cx="457200" cy="457200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640080" y="822960"/>
            <a:ext cx="1005840" cy="100584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2" y="1064362"/>
            <a:ext cx="523037" cy="523037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548640" y="23317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AWS, MADE SWEET &amp; SIMPLE</a:t>
            </a:r>
            <a:endParaRPr lang="en-US" sz="4400" dirty="0"/>
          </a:p>
        </p:txBody>
      </p:sp>
      <p:sp>
        <p:nvSpPr>
          <p:cNvPr id="16" name="Text 5"/>
          <p:cNvSpPr/>
          <p:nvPr/>
        </p:nvSpPr>
        <p:spPr>
          <a:xfrm>
            <a:off x="566928" y="3383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cozy weekend crash course — explained with everyday examples, no tech jargon required.</a:t>
            </a:r>
            <a:endParaRPr lang="en-US" sz="1600" dirty="0"/>
          </a:p>
        </p:txBody>
      </p:sp>
      <p:sp>
        <p:nvSpPr>
          <p:cNvPr id="17" name="Shape 6"/>
          <p:cNvSpPr/>
          <p:nvPr/>
        </p:nvSpPr>
        <p:spPr>
          <a:xfrm>
            <a:off x="566928" y="4160520"/>
            <a:ext cx="502920" cy="82296"/>
          </a:xfrm>
          <a:prstGeom prst="roundRect">
            <a:avLst>
              <a:gd name="adj" fmla="val 44444"/>
            </a:avLst>
          </a:prstGeom>
          <a:solidFill>
            <a:srgbClr val="FF8FAB"/>
          </a:solidFill>
          <a:ln/>
        </p:spPr>
      </p:sp>
      <p:sp>
        <p:nvSpPr>
          <p:cNvPr id="18" name="Text 7"/>
          <p:cNvSpPr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Taught by Hilda  •  For a total beginner  •  Grab a notebook + tea ❤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11338560" y="457200"/>
            <a:ext cx="50292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1430000" y="603504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"The Cloud," Really?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how you watch movies now.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2148840"/>
            <a:ext cx="5212080" cy="3794760"/>
          </a:xfrm>
          <a:prstGeom prst="roundRect">
            <a:avLst>
              <a:gd name="adj" fmla="val 3855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8680" y="2468880"/>
            <a:ext cx="777240" cy="777240"/>
          </a:xfrm>
          <a:prstGeom prst="ellipse">
            <a:avLst/>
          </a:prstGeom>
          <a:solidFill>
            <a:srgbClr val="9C8793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655418"/>
            <a:ext cx="404165" cy="4041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8308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200" kern="0" dirty="0">
                <a:solidFill>
                  <a:srgbClr val="9C87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78308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Buying DVDs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868680" y="342900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full price upfront, even for movies you watch once.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 shelf (storage) to keep them all.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shelf is full, you must buy a bigger shelf.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89320" y="2148840"/>
            <a:ext cx="5212080" cy="3794760"/>
          </a:xfrm>
          <a:prstGeom prst="roundRect">
            <a:avLst>
              <a:gd name="adj" fmla="val 3855"/>
            </a:avLst>
          </a:prstGeom>
          <a:solidFill>
            <a:srgbClr val="D6336C"/>
          </a:solidFill>
          <a:ln/>
          <a:effectLst>
            <a:outerShdw sx="100000" sy="100000" kx="0" ky="0" algn="bl" rotWithShape="0" blurRad="127000" dist="38100" dir="5400000">
              <a:srgbClr val="D6336C">
                <a:alpha val="3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309360" y="246888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2655418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200" kern="0" dirty="0">
                <a:solidFill>
                  <a:srgbClr val="FFD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WAY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22376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on Netflix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309360" y="342900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monthly, only while you actually use it.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owns the giant hard drives — not you.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more shows? They just appear. No new shelf needed.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6080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"the cloud." </a:t>
            </a:r>
            <a:pPr indent="0" marL="0">
              <a:buNone/>
            </a:pPr>
            <a:r>
              <a:rPr lang="en-US" sz="13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(Amazon Web Services) is Amazon renting out its giant warehouses of computers — so companies like Netflix, Instagram, and Airbnb don’t have to build their own.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1247120" y="457200"/>
            <a:ext cx="54864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rot="-360000">
            <a:off x="11155680" y="576072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 1 OF 5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(EC2) — The Brain That Does Work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713232" cy="713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17830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Renting a fully-equipped kitchen at an hourly rate instead of building your own kitchen at home.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834640"/>
            <a:ext cx="10515600" cy="3063240"/>
          </a:xfrm>
          <a:prstGeom prst="roundRect">
            <a:avLst>
              <a:gd name="adj" fmla="val 4776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44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EC2 = Elastic Compute Cloud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14400" y="36118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virtual computer you rent from Amazon by the hour.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“Elastic” means it can grow or shrink — like a rubber band — to match how busy your app is.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more power for Black Friday sales? Rent more computers for a day, then give them back.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the actual "thinking" happens — running the app, doing calculations, serving webpages.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1247120" y="457200"/>
            <a:ext cx="594360" cy="5943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1338560" y="585216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 2 OF 5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(S3) — The Warehouse for Your Stuff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713232" cy="713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17830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self-storage unit. You rent exactly the space you need, and can grab your boxes anytime, from anywhere.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834640"/>
            <a:ext cx="10515600" cy="3063240"/>
          </a:xfrm>
          <a:prstGeom prst="roundRect">
            <a:avLst>
              <a:gd name="adj" fmla="val 4776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44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= Simple Storage Service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14400" y="36118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files — photos, videos, documents — as "objects" in buckets (like labeled storage boxes).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doesn’t "think" or run programs. It just holds things safely, forever, and hands them back on request.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pay for the space your files actually take up — like a storage unit that shrinks your bill as you remove boxes.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photo you’ve ever posted on Instagram? Sitting in something just like this.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1247120" y="457200"/>
            <a:ext cx="594360" cy="5943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rot="-900000">
            <a:off x="11247120" y="5852160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 3 OF 5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(RDS) — The Organized Filing Cabinet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713232" cy="713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17830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librarian who instantly finds the exact book you need, versus a messy pile of paper on the floor.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834640"/>
            <a:ext cx="10515600" cy="3063240"/>
          </a:xfrm>
          <a:prstGeom prst="roundRect">
            <a:avLst>
              <a:gd name="adj" fmla="val 4776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44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RDS = Relational Database Service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14400" y="36118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stores the actual photo file — RDS stores the facts about it: who posted it, the caption, how many likes.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everything in neat rows and columns, like a spreadsheet, so it can be searched instantly.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Instagram instantly knows "this photo belongs to this person" out of billions of photos.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manages the boring, technical upkeep (backups, updates) so companies don’t have to.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1247120" y="457200"/>
            <a:ext cx="54864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11247120" y="5852160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 4 OF 5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 (VPC) — Your Private Neighborhood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713232" cy="713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17830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gated community. A security gate controls exactly who can drive in and out — strangers can’t just wander through.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834640"/>
            <a:ext cx="10515600" cy="3063240"/>
          </a:xfrm>
          <a:prstGeom prst="roundRect">
            <a:avLst>
              <a:gd name="adj" fmla="val 4776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44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VPC = Virtual Private Cloud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14400" y="36118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fenced-off, private section of AWS that belongs only to one company.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Inside, the company decides which "houses" (servers) face the public street and which stay hidden in the back.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database (with sensitive data) stays hidden inside; the website server faces the "street" so visitors can reach it.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fence around EVERYTHING else we’ve talked about — it keeps it all contained and safe.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1155680" y="457200"/>
            <a:ext cx="685800" cy="685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1338560" y="585216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 5 OF 5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(IAM) — Who’s Allowed to Do What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66544"/>
            <a:ext cx="713232" cy="713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17830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example: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hotel keycard. Your card opens YOUR room and the gym — not the manager’s office or other guests’ rooms.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834640"/>
            <a:ext cx="10515600" cy="3063240"/>
          </a:xfrm>
          <a:prstGeom prst="roundRect">
            <a:avLst>
              <a:gd name="adj" fmla="val 4776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44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= Identity and Access Management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14400" y="36118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and every program gets its own "keycard" (called a role or user).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keycard only opens the doors it truly needs — this is called "least privilege."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summer intern’s keycard shouldn’t open the same doors as the company owner’s.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#1 job of a cybersecurity engineer: making sure the right keycards go to the right people.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Actually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515600" cy="3840480"/>
          </a:xfrm>
          <a:prstGeom prst="roundRect">
            <a:avLst>
              <a:gd name="adj" fmla="val 4286"/>
            </a:avLst>
          </a:prstGeom>
          <a:ln w="25400">
            <a:solidFill>
              <a:srgbClr val="FF8FA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VPC — the fenced neighborhood everything lives inside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834640"/>
            <a:ext cx="1188720" cy="1188720"/>
          </a:xfrm>
          <a:prstGeom prst="ellipse">
            <a:avLst/>
          </a:prstGeom>
          <a:solidFill>
            <a:srgbClr val="9C8793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413" y="311993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(Phone/App)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11880" y="2834640"/>
            <a:ext cx="1188720" cy="118872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73" y="3119933"/>
            <a:ext cx="618134" cy="6181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(EC2)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834640"/>
            <a:ext cx="1188720" cy="118872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33" y="3119933"/>
            <a:ext cx="618134" cy="6181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(S3)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915400" y="2834640"/>
            <a:ext cx="1188720" cy="118872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693" y="3119933"/>
            <a:ext cx="618134" cy="6181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9536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(RDS)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194560" y="3383280"/>
            <a:ext cx="1371600" cy="274320"/>
          </a:xfrm>
          <a:prstGeom prst="rightArrow">
            <a:avLst/>
          </a:prstGeom>
          <a:solidFill>
            <a:srgbClr val="F4A6C6"/>
          </a:solidFill>
          <a:ln/>
        </p:spPr>
      </p:sp>
      <p:sp>
        <p:nvSpPr>
          <p:cNvPr id="19" name="Shape 13"/>
          <p:cNvSpPr/>
          <p:nvPr/>
        </p:nvSpPr>
        <p:spPr>
          <a:xfrm>
            <a:off x="4846320" y="3383280"/>
            <a:ext cx="1371600" cy="274320"/>
          </a:xfrm>
          <a:prstGeom prst="rightArrow">
            <a:avLst/>
          </a:prstGeom>
          <a:solidFill>
            <a:srgbClr val="F4A6C6"/>
          </a:solidFill>
          <a:ln/>
        </p:spPr>
      </p:sp>
      <p:sp>
        <p:nvSpPr>
          <p:cNvPr id="20" name="Shape 14"/>
          <p:cNvSpPr/>
          <p:nvPr/>
        </p:nvSpPr>
        <p:spPr>
          <a:xfrm>
            <a:off x="7498080" y="3383280"/>
            <a:ext cx="1371600" cy="274320"/>
          </a:xfrm>
          <a:prstGeom prst="rightArrow">
            <a:avLst/>
          </a:prstGeom>
          <a:solidFill>
            <a:srgbClr val="F4A6C6"/>
          </a:solidFill>
          <a:ln/>
        </p:spPr>
      </p:sp>
      <p:sp>
        <p:nvSpPr>
          <p:cNvPr id="21" name="Shape 15"/>
          <p:cNvSpPr/>
          <p:nvPr/>
        </p:nvSpPr>
        <p:spPr>
          <a:xfrm>
            <a:off x="4937760" y="5074920"/>
            <a:ext cx="685800" cy="68580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523951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51389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checks permissions at every single step — nothing happens without the right keycard.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4864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flow: </a:t>
            </a:r>
            <a:pPr indent="0" marL="0">
              <a:buNone/>
            </a:pPr>
            <a:r>
              <a:rPr lang="en-US" sz="13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open the app → EC2 does the work → S3 saves the files → RDS saves the facts → IAM approves every step → VPC keeps it all fenced in.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WORLD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You Post an Instagram Photo?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46704" cy="1783080"/>
          </a:xfrm>
          <a:prstGeom prst="roundRect">
            <a:avLst>
              <a:gd name="adj" fmla="val 7179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9C87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3852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hit "Share"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sends the photo up to Instagram’s servers.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32504" y="1691640"/>
            <a:ext cx="3346704" cy="1783080"/>
          </a:xfrm>
          <a:prstGeom prst="roundRect">
            <a:avLst>
              <a:gd name="adj" fmla="val 7179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920240"/>
            <a:ext cx="457200" cy="457200"/>
          </a:xfrm>
          <a:prstGeom prst="ellipse">
            <a:avLst/>
          </a:prstGeom>
          <a:solidFill>
            <a:srgbClr val="FF8FAB"/>
          </a:solidFill>
          <a:ln/>
        </p:spPr>
      </p:sp>
      <p:sp>
        <p:nvSpPr>
          <p:cNvPr id="11" name="Text 9"/>
          <p:cNvSpPr/>
          <p:nvPr/>
        </p:nvSpPr>
        <p:spPr>
          <a:xfrm>
            <a:off x="42611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55464" y="193852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EC2 gets to work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61104" y="25603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Rented computers resize and process the image instantly.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16368" y="1691640"/>
            <a:ext cx="3346704" cy="1783080"/>
          </a:xfrm>
          <a:prstGeom prst="roundRect">
            <a:avLst>
              <a:gd name="adj" fmla="val 7179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4968" y="1920240"/>
            <a:ext cx="457200" cy="45720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6" name="Text 14"/>
          <p:cNvSpPr/>
          <p:nvPr/>
        </p:nvSpPr>
        <p:spPr>
          <a:xfrm>
            <a:off x="77449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39328" y="193852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stores the file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44968" y="25603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photo is saved in a giant digital warehouse.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346704" cy="1783080"/>
          </a:xfrm>
          <a:prstGeom prst="roundRect">
            <a:avLst>
              <a:gd name="adj" fmla="val 7179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FF8FA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9044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RDS logs the facts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username, caption, and timestamp are recorded.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032504" y="3657600"/>
            <a:ext cx="3346704" cy="1783080"/>
          </a:xfrm>
          <a:prstGeom prst="roundRect">
            <a:avLst>
              <a:gd name="adj" fmla="val 7179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1104" y="3886200"/>
            <a:ext cx="457200" cy="45720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6" name="Text 24"/>
          <p:cNvSpPr/>
          <p:nvPr/>
        </p:nvSpPr>
        <p:spPr>
          <a:xfrm>
            <a:off x="426110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55464" y="39044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checks access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261104" y="45262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only you can edit or delete your own post.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16368" y="3657600"/>
            <a:ext cx="3346704" cy="1783080"/>
          </a:xfrm>
          <a:prstGeom prst="roundRect">
            <a:avLst>
              <a:gd name="adj" fmla="val 7179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3886200"/>
            <a:ext cx="457200" cy="457200"/>
          </a:xfrm>
          <a:prstGeom prst="ellipse">
            <a:avLst/>
          </a:prstGeom>
          <a:solidFill>
            <a:srgbClr val="F0B94D"/>
          </a:solidFill>
          <a:ln/>
        </p:spPr>
      </p:sp>
      <p:sp>
        <p:nvSpPr>
          <p:cNvPr id="31" name="Text 29"/>
          <p:cNvSpPr/>
          <p:nvPr/>
        </p:nvSpPr>
        <p:spPr>
          <a:xfrm>
            <a:off x="774496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39328" y="39044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VPC keeps it fenced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744968" y="452628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process stays inside Instagram’s private, secured network.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Pieces, In One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46704" cy="1691640"/>
          </a:xfrm>
          <a:prstGeom prst="roundRect">
            <a:avLst>
              <a:gd name="adj" fmla="val 7568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731520" cy="73152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12323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streaming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926080"/>
            <a:ext cx="2889504" cy="0"/>
          </a:xfrm>
          <a:prstGeom prst="line">
            <a:avLst/>
          </a:prstGeom>
          <a:noFill/>
          <a:ln w="12700">
            <a:solidFill>
              <a:srgbClr val="F3D9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0175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 it stores/does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032504" y="1691640"/>
            <a:ext cx="3346704" cy="1691640"/>
          </a:xfrm>
          <a:prstGeom prst="roundRect">
            <a:avLst>
              <a:gd name="adj" fmla="val 7568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61104" y="1947672"/>
            <a:ext cx="731520" cy="73152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669" y="2123237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19659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(EC2)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129784" y="23500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Rented kitchen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261104" y="2926080"/>
            <a:ext cx="2889504" cy="0"/>
          </a:xfrm>
          <a:prstGeom prst="line">
            <a:avLst/>
          </a:prstGeom>
          <a:noFill/>
          <a:ln w="12700">
            <a:solidFill>
              <a:srgbClr val="F3D9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61104" y="30175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 it stores/does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516368" y="1691640"/>
            <a:ext cx="3346704" cy="1691640"/>
          </a:xfrm>
          <a:prstGeom prst="roundRect">
            <a:avLst>
              <a:gd name="adj" fmla="val 7568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44968" y="1947672"/>
            <a:ext cx="731520" cy="73152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533" y="2123237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13648" y="19659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(S3)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613648" y="23500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unit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44968" y="2926080"/>
            <a:ext cx="2889504" cy="0"/>
          </a:xfrm>
          <a:prstGeom prst="line">
            <a:avLst/>
          </a:prstGeom>
          <a:noFill/>
          <a:ln w="12700">
            <a:solidFill>
              <a:srgbClr val="F3D9E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44968" y="30175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 it stores/does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566160"/>
            <a:ext cx="3346704" cy="1691640"/>
          </a:xfrm>
          <a:prstGeom prst="roundRect">
            <a:avLst>
              <a:gd name="adj" fmla="val 7568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3822192"/>
            <a:ext cx="731520" cy="73152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997757"/>
            <a:ext cx="380390" cy="3803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38404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(RDS)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645920" y="422452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Librarian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777240" y="4800600"/>
            <a:ext cx="2889504" cy="0"/>
          </a:xfrm>
          <a:prstGeom prst="line">
            <a:avLst/>
          </a:prstGeom>
          <a:noFill/>
          <a:ln w="12700">
            <a:solidFill>
              <a:srgbClr val="F3D9E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7240" y="48920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 it stores/does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032504" y="3566160"/>
            <a:ext cx="3346704" cy="1691640"/>
          </a:xfrm>
          <a:prstGeom prst="roundRect">
            <a:avLst>
              <a:gd name="adj" fmla="val 7568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261104" y="3822192"/>
            <a:ext cx="731520" cy="73152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669" y="3997757"/>
            <a:ext cx="380390" cy="38039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29784" y="38404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 (VPC)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5129784" y="422452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community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261104" y="4800600"/>
            <a:ext cx="2889504" cy="0"/>
          </a:xfrm>
          <a:prstGeom prst="line">
            <a:avLst/>
          </a:prstGeom>
          <a:noFill/>
          <a:ln w="12700">
            <a:solidFill>
              <a:srgbClr val="F3D9E4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261104" y="48920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 it stores/does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7516368" y="3566160"/>
            <a:ext cx="3346704" cy="1691640"/>
          </a:xfrm>
          <a:prstGeom prst="roundRect">
            <a:avLst>
              <a:gd name="adj" fmla="val 7568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744968" y="3822192"/>
            <a:ext cx="731520" cy="731520"/>
          </a:xfrm>
          <a:prstGeom prst="ellipse">
            <a:avLst/>
          </a:prstGeom>
          <a:solidFill>
            <a:srgbClr val="FF8FAB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533" y="3997757"/>
            <a:ext cx="380390" cy="38039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613648" y="38404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(IAM)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8613648" y="422452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keycard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7744968" y="4800600"/>
            <a:ext cx="2889504" cy="0"/>
          </a:xfrm>
          <a:prstGeom prst="line">
            <a:avLst/>
          </a:prstGeom>
          <a:noFill/>
          <a:ln w="12700">
            <a:solidFill>
              <a:srgbClr val="F3D9E4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744968" y="48920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thing it stores/does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11155680" y="457200"/>
            <a:ext cx="685800" cy="685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 rot="-480000">
            <a:off x="11247120" y="5760720"/>
            <a:ext cx="59436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spc="300" kern="0" dirty="0">
                <a:solidFill>
                  <a:srgbClr val="D63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This This Weekend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691640"/>
            <a:ext cx="1097280" cy="1097280"/>
          </a:xfrm>
          <a:prstGeom prst="ellipse">
            <a:avLst/>
          </a:prstGeom>
          <a:solidFill>
            <a:srgbClr val="D6336C"/>
          </a:solidFill>
          <a:ln/>
          <a:effectLst>
            <a:outerShdw sx="100000" sy="100000" kx="0" ky="0" algn="bl" rotWithShape="0" blurRad="101600" dist="38100" dir="5400000">
              <a:srgbClr val="D6336C">
                <a:alpha val="1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1954987"/>
            <a:ext cx="570586" cy="5705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0240" y="1920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laptop skills needed — just curiosity.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2834640"/>
            <a:ext cx="10515600" cy="777240"/>
          </a:xfrm>
          <a:prstGeom prst="roundRect">
            <a:avLst>
              <a:gd name="adj" fmla="val 16471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77240" y="3017520"/>
            <a:ext cx="411480" cy="41148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1" name="Text 6"/>
          <p:cNvSpPr/>
          <p:nvPr/>
        </p:nvSpPr>
        <p:spPr>
          <a:xfrm>
            <a:off x="7772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371600" y="29077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looking back at these slides, explain EC2, S3, and RDS out loud using your OWN real-life examples.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749040"/>
            <a:ext cx="10515600" cy="777240"/>
          </a:xfrm>
          <a:prstGeom prst="roundRect">
            <a:avLst>
              <a:gd name="adj" fmla="val 16471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38221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 you open Instagram or Netflix, try to guess which AWS piece is working behind the scenes.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10515600" cy="777240"/>
          </a:xfrm>
          <a:prstGeom prst="roundRect">
            <a:avLst>
              <a:gd name="adj" fmla="val 16471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846320"/>
            <a:ext cx="411480" cy="41148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47365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"If I were the security guard (IAM) for an app, what’s one thing I’d never let a random visitor do?"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5577840"/>
            <a:ext cx="10515600" cy="777240"/>
          </a:xfrm>
          <a:prstGeom prst="roundRect">
            <a:avLst>
              <a:gd name="adj" fmla="val 16471"/>
            </a:avLst>
          </a:prstGeom>
          <a:solidFill>
            <a:srgbClr val="FFF3F7"/>
          </a:solidFill>
          <a:ln w="12700">
            <a:solidFill>
              <a:srgbClr val="F3D9E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5760720"/>
            <a:ext cx="411480" cy="41148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371600" y="565099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sign up for the AWS Free Tier together and just LOOK at the EC2 dashboard — no need to launch anything yet.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48640" y="647395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2026-07-30T08:25:58Z</dcterms:created>
  <dcterms:modified xsi:type="dcterms:W3CDTF">2026-07-30T08:25:58Z</dcterms:modified>
</cp:coreProperties>
</file>